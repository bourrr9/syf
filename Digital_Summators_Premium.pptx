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8534095" y="0"/>
            <a:ext cx="36576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>
                <a:solidFill>
                  <a:srgbClr val="EAB308"/>
                </a:solidFill>
                <a:latin typeface="Arial Black"/>
              </a:defRPr>
            </a:pPr>
            <a:r>
              <a:t>ЦИФРОВЫЕ СУММАТОРЫ</a:t>
            </a:r>
          </a:p>
          <a:p>
            <a:pPr>
              <a:defRPr sz="2400">
                <a:solidFill>
                  <a:srgbClr val="14B8A6"/>
                </a:solidFill>
                <a:latin typeface="Arial"/>
              </a:defRPr>
            </a:pPr>
            <a:r>
              <a:t>Арифметические комбинационные устройства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B308"/>
                </a:solidFill>
                <a:latin typeface="Arial"/>
              </a:defRPr>
            </a:pPr>
            <a:r>
              <a:t>Основы двоичного сложения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1F5F9"/>
                </a:solidFill>
              </a:defRPr>
            </a:pPr>
            <a:r>
              <a:t>Правила сложения в столбик: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• Сложение выполняется поразрядно, начиная с младшего.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• При складывании двух единиц (1 + 1) результатом в текущем разряде становится 0, а 1 переносится в старший разряд.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• Из-за переносов сложение двух 2-битных чисел на выходе может дать 3-битный результат.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286000"/>
            <a:ext cx="411480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1F5F9"/>
                </a:solidFill>
                <a:latin typeface="Consolas"/>
              </a:defRPr>
            </a:pPr>
            <a:r>
              <a:t>Пример переноса:</a:t>
            </a:r>
            <a:br/>
            <a:br/>
            <a:r>
              <a:t>  1 1  (перенос)</a:t>
            </a:r>
            <a:br/>
            <a:r>
              <a:t>+ 0 1</a:t>
            </a:r>
            <a:br/>
            <a:r>
              <a:t>  0 1</a:t>
            </a:r>
            <a:br/>
            <a:r>
              <a:t>—————</a:t>
            </a:r>
            <a:br/>
            <a:r>
              <a:t>= 1 0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B308"/>
                </a:solidFill>
                <a:latin typeface="Arial"/>
              </a:defRPr>
            </a:pPr>
            <a:r>
              <a:t>Одноразрядный сумматор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1F5F9"/>
                </a:solidFill>
              </a:defRPr>
            </a:pPr>
            <a:r>
              <a:t>Структура базового узла вычислений:</a:t>
            </a:r>
          </a:p>
          <a:p>
            <a:pPr>
              <a:spcAft>
                <a:spcPts val="1500"/>
              </a:spcAft>
              <a:defRPr sz="1800">
                <a:solidFill>
                  <a:srgbClr val="94A3B8"/>
                </a:solidFill>
              </a:defRPr>
            </a:pPr>
            <a:r>
              <a:t>▪ Устройство обрабатывает отдельные разряды (биты) входных чисел.</a:t>
            </a:r>
          </a:p>
          <a:p>
            <a:pPr>
              <a:spcAft>
                <a:spcPts val="1500"/>
              </a:spcAft>
              <a:defRPr sz="1800">
                <a:solidFill>
                  <a:srgbClr val="94A3B8"/>
                </a:solidFill>
              </a:defRPr>
            </a:pPr>
            <a:r>
              <a:t>▪ Входы схемы: Сигналы А и В (складываемые биты).</a:t>
            </a:r>
          </a:p>
          <a:p>
            <a:pPr>
              <a:spcAft>
                <a:spcPts val="1500"/>
              </a:spcAft>
              <a:defRPr sz="1800">
                <a:solidFill>
                  <a:srgbClr val="94A3B8"/>
                </a:solidFill>
              </a:defRPr>
            </a:pPr>
            <a:r>
              <a:t>▪ Выходы схемы: S (Sum) — значение младшего разряда суммы; C (Carry) — бит переноса, отправляющийся в следующий разряд.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B308"/>
                </a:solidFill>
                <a:latin typeface="Arial"/>
              </a:defRPr>
            </a:pPr>
            <a:r>
              <a:t>Полусумматор (Half Adder)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228600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2200" b="1">
                <a:solidFill>
                  <a:srgbClr val="EAB308"/>
                </a:solidFill>
              </a:defRPr>
            </a:pPr>
            <a:r>
              <a:t>Функция полусумматора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Складывает два бита и формирует значения Суммы и Переноса. </a:t>
            </a:r>
            <a:br/>
            <a:br/>
            <a:r>
              <a:t>Если на входе две единицы (1 и 1), то на выходе будет двоичное число 10 (двойка), то есть Сумма = 0, а Перенос =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28600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500"/>
              </a:spcAft>
              <a:defRPr sz="2200" b="1">
                <a:solidFill>
                  <a:srgbClr val="EAB308"/>
                </a:solidFill>
              </a:defRPr>
            </a:pPr>
            <a:r>
              <a:t>Реализация на вентилях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Для построения схемы «в железе» используются два базовых логических элемента:</a:t>
            </a:r>
            <a:br/>
            <a:br/>
            <a:r>
              <a:t>1. Исключающее ИЛИ (XOR) — отвечает за формирование бита суммы (S).</a:t>
            </a:r>
            <a:br/>
            <a:br/>
            <a:r>
              <a:t>2. Логическое И (AND) — отвечает за вычисление бита переноса (C).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defRPr sz="3600">
                <a:solidFill>
                  <a:srgbClr val="EAB308"/>
                </a:solidFill>
                <a:latin typeface="Arial Black"/>
              </a:defRPr>
            </a:pPr>
            <a:r>
              <a:t>ПОЧЕМУ ОН «ПОЛУ»-СУММАТОР?</a:t>
            </a:r>
          </a:p>
          <a:p>
            <a:pPr algn="ctr">
              <a:defRPr sz="2400">
                <a:solidFill>
                  <a:srgbClr val="F1F5F9"/>
                </a:solidFill>
              </a:defRPr>
            </a:pPr>
            <a:r>
              <a:t>Данное устройство не имеет входа для получения бита переноса из предыдущего (более младшего) разряда. Оно работает исключительно изолированно с двумя текущими битами.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B308"/>
                </a:solidFill>
                <a:latin typeface="Arial"/>
              </a:defRPr>
            </a:pPr>
            <a:r>
              <a:t>Полный сумматор (Full Adder)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1F5F9"/>
                </a:solidFill>
              </a:defRPr>
            </a:pPr>
            <a:r>
              <a:t>Полноценное сложение с тремя входами: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Имеет дополнительный входной разряд переноса — CIN (Carry In).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Позволяет одновременно складывать три бита: A, B и перенос от младшего разряда.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Максимальная комбинация на входе (1 + 1 + 1) дает на выходе двоичное число 11 (тройку), то есть Сумма = 1 и Перенос = 1.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Конструктивно один полный сумматор собирается из двух полусумматоров и одного логического элемента ИЛИ (OR).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B308"/>
                </a:solidFill>
                <a:latin typeface="Arial"/>
              </a:defRPr>
            </a:pPr>
            <a:r>
              <a:t>Каскадирование устройств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1F5F9"/>
                </a:solidFill>
              </a:defRPr>
            </a:pPr>
            <a:r>
              <a:t>Принцип последовательного переноса: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Для работы с реальными многоразрядными числами отдельные полные сумматоры объединяются в единую цепочку (каскад).</a:t>
            </a:r>
            <a:br/>
            <a:br/>
            <a:r>
              <a:t>Выход переноса (COUT) младшего разряда жестко связывается со входом переноса (CIN) следующего, более старшего разряда.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3200400"/>
            <a:ext cx="128016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FA</a:t>
            </a:r>
            <a:br/>
            <a:r>
              <a:t>Бит 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138160" y="3657600"/>
            <a:ext cx="274320" cy="27432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0" y="3200400"/>
            <a:ext cx="128016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FA</a:t>
            </a:r>
            <a:br/>
            <a:r>
              <a:t>Бит 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692640" y="3657600"/>
            <a:ext cx="274320" cy="27432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0" y="3200400"/>
            <a:ext cx="128016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FA</a:t>
            </a:r>
            <a:br/>
            <a:r>
              <a:t>Бит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AB308"/>
                </a:solidFill>
                <a:latin typeface="Arial"/>
              </a:defRPr>
            </a:pPr>
            <a:r>
              <a:t>Пример: 4-разрядный сумматор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280160"/>
            <a:ext cx="2468880" cy="0"/>
          </a:xfrm>
          <a:prstGeom prst="line">
            <a:avLst/>
          </a:prstGeom>
          <a:ln w="381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F1F5F9"/>
                </a:solidFill>
              </a:defRPr>
            </a:pPr>
            <a:r>
              <a:t>Анализ работы схемы: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Позволяет складывать числа в диапазоне от 0 до 15 (в двоичном коде: от 0000 до 1111).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Максимально возможная сумма на устройстве достигается при операции 15 + 15 плюс подача единицы на начальный вход CIN. Результат равен 31.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</a:defRPr>
            </a:pPr>
            <a:r>
              <a:t>▪ Для сбора итогового значения в привычном десятичном формате каждый полученный выходной бит программно или аппаратно умножается на соответствующую степень двойки (2^0, 2^1, 2^2...).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5400">
                <a:solidFill>
                  <a:srgbClr val="EAB308"/>
                </a:solidFill>
                <a:latin typeface="Arial Black"/>
              </a:defRPr>
            </a:pPr>
            <a:r>
              <a:t>Спасибо за внимание!</a:t>
            </a:r>
          </a:p>
          <a:p>
            <a:pPr algn="ctr">
              <a:defRPr sz="2000">
                <a:solidFill>
                  <a:srgbClr val="94A3B8"/>
                </a:solidFill>
                <a:latin typeface="Arial"/>
              </a:defRPr>
            </a:pPr>
            <a:r>
              <a:t>Тема КЦУ завершена. Впереди изучение Умножителей.</a:t>
            </a:r>
            <a:br/>
            <a:r>
              <a:t>Модели Simulink (19B+) доступны в репозитории.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